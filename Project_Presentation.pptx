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56" r:id="rId2"/>
    <p:sldId id="257" r:id="rId3"/>
    <p:sldId id="267" r:id="rId4"/>
    <p:sldId id="268"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p:scale>
          <a:sx n="125" d="100"/>
          <a:sy n="125" d="100"/>
        </p:scale>
        <p:origin x="-60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A3609-1EEF-4BB0-AC49-E1CEBEC1885D}" type="datetimeFigureOut">
              <a:rPr lang="en-US" smtClean="0"/>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F56D9F-AB15-4D82-823D-0B90D77216E7}" type="slidenum">
              <a:rPr lang="en-US" smtClean="0"/>
              <a:t>‹#›</a:t>
            </a:fld>
            <a:endParaRPr lang="en-US"/>
          </a:p>
        </p:txBody>
      </p:sp>
    </p:spTree>
    <p:extLst>
      <p:ext uri="{BB962C8B-B14F-4D97-AF65-F5344CB8AC3E}">
        <p14:creationId xmlns:p14="http://schemas.microsoft.com/office/powerpoint/2010/main" val="134643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respected panel and everyone. My name is Pham Xuan Nhat Minh. Today, I am proud to present my Project 2: A Custom 4-bit RISC CPU Datapath, engineered with a 3-Stage Pipeline and advanced architectural upgrades.</a:t>
            </a:r>
          </a:p>
        </p:txBody>
      </p:sp>
      <p:sp>
        <p:nvSpPr>
          <p:cNvPr id="4" name="Slide Number Placeholder 3"/>
          <p:cNvSpPr>
            <a:spLocks noGrp="1"/>
          </p:cNvSpPr>
          <p:nvPr>
            <p:ph type="sldNum" sz="quarter" idx="5"/>
          </p:nvPr>
        </p:nvSpPr>
        <p:spPr/>
        <p:txBody>
          <a:bodyPr/>
          <a:lstStyle/>
          <a:p>
            <a:fld id="{97F56D9F-AB15-4D82-823D-0B90D77216E7}" type="slidenum">
              <a:rPr lang="en-US" smtClean="0"/>
              <a:t>1</a:t>
            </a:fld>
            <a:endParaRPr lang="en-US"/>
          </a:p>
        </p:txBody>
      </p:sp>
    </p:spTree>
    <p:extLst>
      <p:ext uri="{BB962C8B-B14F-4D97-AF65-F5344CB8AC3E}">
        <p14:creationId xmlns:p14="http://schemas.microsoft.com/office/powerpoint/2010/main" val="3827522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foundation of this CPU is a 12-bit ISA operating on a Harvard memory model. Separating memories allows simultaneous fetch and access. The Datapath integrates 4 registers and a multi-function ALU, orchestrated by a Hardwired Control Unit.</a:t>
            </a:r>
          </a:p>
        </p:txBody>
      </p:sp>
      <p:sp>
        <p:nvSpPr>
          <p:cNvPr id="4" name="Slide Number Placeholder 3"/>
          <p:cNvSpPr>
            <a:spLocks noGrp="1"/>
          </p:cNvSpPr>
          <p:nvPr>
            <p:ph type="sldNum" sz="quarter" idx="5"/>
          </p:nvPr>
        </p:nvSpPr>
        <p:spPr/>
        <p:txBody>
          <a:bodyPr/>
          <a:lstStyle/>
          <a:p>
            <a:fld id="{97F56D9F-AB15-4D82-823D-0B90D77216E7}" type="slidenum">
              <a:rPr lang="en-US" smtClean="0"/>
              <a:t>2</a:t>
            </a:fld>
            <a:endParaRPr lang="en-US"/>
          </a:p>
        </p:txBody>
      </p:sp>
    </p:spTree>
    <p:extLst>
      <p:ext uri="{BB962C8B-B14F-4D97-AF65-F5344CB8AC3E}">
        <p14:creationId xmlns:p14="http://schemas.microsoft.com/office/powerpoint/2010/main" val="3895184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foundation of this CPU is a 12-bit ISA operating on a Harvard memory model. Separating memories allows simultaneous fetch and access. The Datapath integrates 4 registers and a multi-function ALU, orchestrated by a Hardwired Control Unit.</a:t>
            </a:r>
          </a:p>
        </p:txBody>
      </p:sp>
      <p:sp>
        <p:nvSpPr>
          <p:cNvPr id="4" name="Slide Number Placeholder 3"/>
          <p:cNvSpPr>
            <a:spLocks noGrp="1"/>
          </p:cNvSpPr>
          <p:nvPr>
            <p:ph type="sldNum" sz="quarter" idx="5"/>
          </p:nvPr>
        </p:nvSpPr>
        <p:spPr/>
        <p:txBody>
          <a:bodyPr/>
          <a:lstStyle/>
          <a:p>
            <a:fld id="{97F56D9F-AB15-4D82-823D-0B90D77216E7}" type="slidenum">
              <a:rPr lang="en-US" smtClean="0"/>
              <a:t>3</a:t>
            </a:fld>
            <a:endParaRPr lang="en-US"/>
          </a:p>
        </p:txBody>
      </p:sp>
    </p:spTree>
    <p:extLst>
      <p:ext uri="{BB962C8B-B14F-4D97-AF65-F5344CB8AC3E}">
        <p14:creationId xmlns:p14="http://schemas.microsoft.com/office/powerpoint/2010/main" val="1473073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foundation of this CPU is a 12-bit ISA operating on a Harvard memory model. Separating memories allows simultaneous fetch and access. The Datapath integrates 4 registers and a multi-function ALU, orchestrated by a Hardwired Control Unit.</a:t>
            </a:r>
          </a:p>
        </p:txBody>
      </p:sp>
      <p:sp>
        <p:nvSpPr>
          <p:cNvPr id="4" name="Slide Number Placeholder 3"/>
          <p:cNvSpPr>
            <a:spLocks noGrp="1"/>
          </p:cNvSpPr>
          <p:nvPr>
            <p:ph type="sldNum" sz="quarter" idx="5"/>
          </p:nvPr>
        </p:nvSpPr>
        <p:spPr/>
        <p:txBody>
          <a:bodyPr/>
          <a:lstStyle/>
          <a:p>
            <a:fld id="{97F56D9F-AB15-4D82-823D-0B90D77216E7}" type="slidenum">
              <a:rPr lang="en-US" smtClean="0"/>
              <a:t>4</a:t>
            </a:fld>
            <a:endParaRPr lang="en-US"/>
          </a:p>
        </p:txBody>
      </p:sp>
    </p:spTree>
    <p:extLst>
      <p:ext uri="{BB962C8B-B14F-4D97-AF65-F5344CB8AC3E}">
        <p14:creationId xmlns:p14="http://schemas.microsoft.com/office/powerpoint/2010/main" val="1483811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the baseline required a standard pipeline, I engineered three upgrades. I added N/V flags for signed arithmetic, relocated Unconditional Jump logic to the ID stage to reduce penalty to 1 cycle, and utilized opcode 1100 for a hardware Shift Left instruction.</a:t>
            </a:r>
          </a:p>
        </p:txBody>
      </p:sp>
      <p:sp>
        <p:nvSpPr>
          <p:cNvPr id="4" name="Slide Number Placeholder 3"/>
          <p:cNvSpPr>
            <a:spLocks noGrp="1"/>
          </p:cNvSpPr>
          <p:nvPr>
            <p:ph type="sldNum" sz="quarter" idx="5"/>
          </p:nvPr>
        </p:nvSpPr>
        <p:spPr/>
        <p:txBody>
          <a:bodyPr/>
          <a:lstStyle/>
          <a:p>
            <a:fld id="{97F56D9F-AB15-4D82-823D-0B90D77216E7}" type="slidenum">
              <a:rPr lang="en-US" smtClean="0"/>
              <a:t>5</a:t>
            </a:fld>
            <a:endParaRPr lang="en-US"/>
          </a:p>
        </p:txBody>
      </p:sp>
    </p:spTree>
    <p:extLst>
      <p:ext uri="{BB962C8B-B14F-4D97-AF65-F5344CB8AC3E}">
        <p14:creationId xmlns:p14="http://schemas.microsoft.com/office/powerpoint/2010/main" val="1500663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the RTL level, this schematic reveals how Vivado interprets the code. You can clearly see the pipeline registers isolating signals across the Fetch, Decode, and Execute stages.</a:t>
            </a:r>
          </a:p>
        </p:txBody>
      </p:sp>
      <p:sp>
        <p:nvSpPr>
          <p:cNvPr id="4" name="Slide Number Placeholder 3"/>
          <p:cNvSpPr>
            <a:spLocks noGrp="1"/>
          </p:cNvSpPr>
          <p:nvPr>
            <p:ph type="sldNum" sz="quarter" idx="5"/>
          </p:nvPr>
        </p:nvSpPr>
        <p:spPr/>
        <p:txBody>
          <a:bodyPr/>
          <a:lstStyle/>
          <a:p>
            <a:fld id="{97F56D9F-AB15-4D82-823D-0B90D77216E7}" type="slidenum">
              <a:rPr lang="en-US" smtClean="0"/>
              <a:t>6</a:t>
            </a:fld>
            <a:endParaRPr lang="en-US"/>
          </a:p>
        </p:txBody>
      </p:sp>
    </p:spTree>
    <p:extLst>
      <p:ext uri="{BB962C8B-B14F-4D97-AF65-F5344CB8AC3E}">
        <p14:creationId xmlns:p14="http://schemas.microsoft.com/office/powerpoint/2010/main" val="3240036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resolve Data Hazards, the register file employs combinational read ports directly in the Execute stage. For Control Hazards, an automated flush signal clears pipeline registers upon branch execution, maintaining data integrity.</a:t>
            </a:r>
          </a:p>
        </p:txBody>
      </p:sp>
      <p:sp>
        <p:nvSpPr>
          <p:cNvPr id="4" name="Slide Number Placeholder 3"/>
          <p:cNvSpPr>
            <a:spLocks noGrp="1"/>
          </p:cNvSpPr>
          <p:nvPr>
            <p:ph type="sldNum" sz="quarter" idx="5"/>
          </p:nvPr>
        </p:nvSpPr>
        <p:spPr/>
        <p:txBody>
          <a:bodyPr/>
          <a:lstStyle/>
          <a:p>
            <a:fld id="{97F56D9F-AB15-4D82-823D-0B90D77216E7}" type="slidenum">
              <a:rPr lang="en-US" smtClean="0"/>
              <a:t>7</a:t>
            </a:fld>
            <a:endParaRPr lang="en-US"/>
          </a:p>
        </p:txBody>
      </p:sp>
    </p:spTree>
    <p:extLst>
      <p:ext uri="{BB962C8B-B14F-4D97-AF65-F5344CB8AC3E}">
        <p14:creationId xmlns:p14="http://schemas.microsoft.com/office/powerpoint/2010/main" val="1277554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guarantee reliability, I built a self-checking testbench suite. The system autonomously executes 4 different machine code programs, performing 41 stringent checks. As shown in the console, the CPU perfectly handles data paths and pipeline flushes, achieving a 100% pass rate.</a:t>
            </a:r>
          </a:p>
        </p:txBody>
      </p:sp>
      <p:sp>
        <p:nvSpPr>
          <p:cNvPr id="4" name="Slide Number Placeholder 3"/>
          <p:cNvSpPr>
            <a:spLocks noGrp="1"/>
          </p:cNvSpPr>
          <p:nvPr>
            <p:ph type="sldNum" sz="quarter" idx="5"/>
          </p:nvPr>
        </p:nvSpPr>
        <p:spPr/>
        <p:txBody>
          <a:bodyPr/>
          <a:lstStyle/>
          <a:p>
            <a:fld id="{97F56D9F-AB15-4D82-823D-0B90D77216E7}" type="slidenum">
              <a:rPr lang="en-US" smtClean="0"/>
              <a:t>8</a:t>
            </a:fld>
            <a:endParaRPr lang="en-US"/>
          </a:p>
        </p:txBody>
      </p:sp>
    </p:spTree>
    <p:extLst>
      <p:ext uri="{BB962C8B-B14F-4D97-AF65-F5344CB8AC3E}">
        <p14:creationId xmlns:p14="http://schemas.microsoft.com/office/powerpoint/2010/main" val="3714756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waveform provides a cycle-by-cycle view of the pipeline in action. It verifies the overlapping execution of instructions and confirms that the Overflow and Negative flags, along with the Early Branch flush, function perfectly.</a:t>
            </a:r>
          </a:p>
        </p:txBody>
      </p:sp>
      <p:sp>
        <p:nvSpPr>
          <p:cNvPr id="4" name="Slide Number Placeholder 3"/>
          <p:cNvSpPr>
            <a:spLocks noGrp="1"/>
          </p:cNvSpPr>
          <p:nvPr>
            <p:ph type="sldNum" sz="quarter" idx="5"/>
          </p:nvPr>
        </p:nvSpPr>
        <p:spPr/>
        <p:txBody>
          <a:bodyPr/>
          <a:lstStyle/>
          <a:p>
            <a:fld id="{97F56D9F-AB15-4D82-823D-0B90D77216E7}" type="slidenum">
              <a:rPr lang="en-US" smtClean="0"/>
              <a:t>9</a:t>
            </a:fld>
            <a:endParaRPr lang="en-US"/>
          </a:p>
        </p:txBody>
      </p:sp>
    </p:spTree>
    <p:extLst>
      <p:ext uri="{BB962C8B-B14F-4D97-AF65-F5344CB8AC3E}">
        <p14:creationId xmlns:p14="http://schemas.microsoft.com/office/powerpoint/2010/main" val="2177683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Following synthesis, the hardware utilization report demonstrates high efficiency. The footprint is minimal, utilizing very few Slice LUTs and Registers on the FPGA.</a:t>
            </a:r>
          </a:p>
        </p:txBody>
      </p:sp>
      <p:sp>
        <p:nvSpPr>
          <p:cNvPr id="4" name="Slide Number Placeholder 3"/>
          <p:cNvSpPr>
            <a:spLocks noGrp="1"/>
          </p:cNvSpPr>
          <p:nvPr>
            <p:ph type="sldNum" sz="quarter" idx="5"/>
          </p:nvPr>
        </p:nvSpPr>
        <p:spPr/>
        <p:txBody>
          <a:bodyPr/>
          <a:lstStyle/>
          <a:p>
            <a:fld id="{97F56D9F-AB15-4D82-823D-0B90D77216E7}" type="slidenum">
              <a:rPr lang="en-US" smtClean="0"/>
              <a:t>10</a:t>
            </a:fld>
            <a:endParaRPr lang="en-US"/>
          </a:p>
        </p:txBody>
      </p:sp>
    </p:spTree>
    <p:extLst>
      <p:ext uri="{BB962C8B-B14F-4D97-AF65-F5344CB8AC3E}">
        <p14:creationId xmlns:p14="http://schemas.microsoft.com/office/powerpoint/2010/main" val="2428535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Implementation view confirms successful placement and routing. The core modules are compactly clustered on the grid, ensuring optimal signal propagation.</a:t>
            </a:r>
          </a:p>
        </p:txBody>
      </p:sp>
      <p:sp>
        <p:nvSpPr>
          <p:cNvPr id="4" name="Slide Number Placeholder 3"/>
          <p:cNvSpPr>
            <a:spLocks noGrp="1"/>
          </p:cNvSpPr>
          <p:nvPr>
            <p:ph type="sldNum" sz="quarter" idx="5"/>
          </p:nvPr>
        </p:nvSpPr>
        <p:spPr/>
        <p:txBody>
          <a:bodyPr/>
          <a:lstStyle/>
          <a:p>
            <a:fld id="{97F56D9F-AB15-4D82-823D-0B90D77216E7}" type="slidenum">
              <a:rPr lang="en-US" smtClean="0"/>
              <a:t>11</a:t>
            </a:fld>
            <a:endParaRPr lang="en-US"/>
          </a:p>
        </p:txBody>
      </p:sp>
    </p:spTree>
    <p:extLst>
      <p:ext uri="{BB962C8B-B14F-4D97-AF65-F5344CB8AC3E}">
        <p14:creationId xmlns:p14="http://schemas.microsoft.com/office/powerpoint/2010/main" val="924736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power report indicates a highly efficient design. Total on-chip power consumption is low, and the junction temperature remains well within safe margins.</a:t>
            </a:r>
          </a:p>
        </p:txBody>
      </p:sp>
      <p:sp>
        <p:nvSpPr>
          <p:cNvPr id="4" name="Slide Number Placeholder 3"/>
          <p:cNvSpPr>
            <a:spLocks noGrp="1"/>
          </p:cNvSpPr>
          <p:nvPr>
            <p:ph type="sldNum" sz="quarter" idx="5"/>
          </p:nvPr>
        </p:nvSpPr>
        <p:spPr/>
        <p:txBody>
          <a:bodyPr/>
          <a:lstStyle/>
          <a:p>
            <a:fld id="{97F56D9F-AB15-4D82-823D-0B90D77216E7}" type="slidenum">
              <a:rPr lang="en-US" smtClean="0"/>
              <a:t>12</a:t>
            </a:fld>
            <a:endParaRPr lang="en-US"/>
          </a:p>
        </p:txBody>
      </p:sp>
    </p:spTree>
    <p:extLst>
      <p:ext uri="{BB962C8B-B14F-4D97-AF65-F5344CB8AC3E}">
        <p14:creationId xmlns:p14="http://schemas.microsoft.com/office/powerpoint/2010/main" val="4138112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this project goes beyond a functional pipeline. By optimizing branch penalties and expanding the arithmetic logic, I have demonstrated a robust, customized RTL design. Thank you for your attention. I am now open to your questions.</a:t>
            </a:r>
          </a:p>
        </p:txBody>
      </p:sp>
      <p:sp>
        <p:nvSpPr>
          <p:cNvPr id="4" name="Slide Number Placeholder 3"/>
          <p:cNvSpPr>
            <a:spLocks noGrp="1"/>
          </p:cNvSpPr>
          <p:nvPr>
            <p:ph type="sldNum" sz="quarter" idx="5"/>
          </p:nvPr>
        </p:nvSpPr>
        <p:spPr/>
        <p:txBody>
          <a:bodyPr/>
          <a:lstStyle/>
          <a:p>
            <a:fld id="{97F56D9F-AB15-4D82-823D-0B90D77216E7}" type="slidenum">
              <a:rPr lang="en-US" smtClean="0"/>
              <a:t>13</a:t>
            </a:fld>
            <a:endParaRPr lang="en-US"/>
          </a:p>
        </p:txBody>
      </p:sp>
    </p:spTree>
    <p:extLst>
      <p:ext uri="{BB962C8B-B14F-4D97-AF65-F5344CB8AC3E}">
        <p14:creationId xmlns:p14="http://schemas.microsoft.com/office/powerpoint/2010/main" val="801613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3987865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2563508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256075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4CA518-3E81-4D7B-99F9-72E075809B3D}"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4190875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4CA518-3E81-4D7B-99F9-72E075809B3D}"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4250146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4CA518-3E81-4D7B-99F9-72E075809B3D}"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187737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4CA518-3E81-4D7B-99F9-72E075809B3D}"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3236839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4CA518-3E81-4D7B-99F9-72E075809B3D}"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156936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4CA518-3E81-4D7B-99F9-72E075809B3D}"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1397674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196705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34059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817447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9615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2355906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2009980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3191862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4F9C-4969-49ED-A646-39CC832028D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E7A0C50-E06A-4C5A-B2EF-6C73F5206906}"/>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D3BC1-920E-43E3-A0E0-8C6F0A596BDC}"/>
              </a:ext>
            </a:extLst>
          </p:cNvPr>
          <p:cNvSpPr>
            <a:spLocks noGrp="1"/>
          </p:cNvSpPr>
          <p:nvPr>
            <p:ph type="dt" sz="half" idx="10"/>
          </p:nvPr>
        </p:nvSpPr>
        <p:spPr/>
        <p:txBody>
          <a:bodyPr/>
          <a:lstStyle/>
          <a:p>
            <a:fld id="{164CA518-3E81-4D7B-99F9-72E075809B3D}" type="datetimeFigureOut">
              <a:rPr lang="en-US" smtClean="0"/>
              <a:t>10/9/2026</a:t>
            </a:fld>
            <a:endParaRPr lang="en-US"/>
          </a:p>
        </p:txBody>
      </p:sp>
      <p:sp>
        <p:nvSpPr>
          <p:cNvPr id="5" name="Footer Placeholder 4">
            <a:extLst>
              <a:ext uri="{FF2B5EF4-FFF2-40B4-BE49-F238E27FC236}">
                <a16:creationId xmlns:a16="http://schemas.microsoft.com/office/drawing/2014/main" id="{C697E96D-27A9-45A6-9B39-A9335612D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D36A2E-E923-4228-8FB5-163871BB8ED7}"/>
              </a:ext>
            </a:extLst>
          </p:cNvPr>
          <p:cNvSpPr>
            <a:spLocks noGrp="1"/>
          </p:cNvSpPr>
          <p:nvPr>
            <p:ph type="sldNum" sz="quarter" idx="12"/>
          </p:nvPr>
        </p:nvSpPr>
        <p:spPr/>
        <p:txBody>
          <a:bodyPr/>
          <a:lstStyle/>
          <a:p>
            <a:fld id="{B74E6DB8-5A92-498F-A647-877E2A59B68F}" type="slidenum">
              <a:rPr lang="en-US" smtClean="0"/>
              <a:t>‹#›</a:t>
            </a:fld>
            <a:endParaRPr lang="en-US"/>
          </a:p>
        </p:txBody>
      </p:sp>
    </p:spTree>
    <p:extLst>
      <p:ext uri="{BB962C8B-B14F-4D97-AF65-F5344CB8AC3E}">
        <p14:creationId xmlns:p14="http://schemas.microsoft.com/office/powerpoint/2010/main" val="3747551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64CA518-3E81-4D7B-99F9-72E075809B3D}" type="datetimeFigureOut">
              <a:rPr lang="en-US" smtClean="0"/>
              <a:t>10/9/2026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4E6DB8-5A92-498F-A647-877E2A59B68F}" type="slidenum">
              <a:rPr lang="en-US" smtClean="0"/>
              <a:t>‹#›</a:t>
            </a:fld>
            <a:endParaRPr lang="en-US"/>
          </a:p>
        </p:txBody>
      </p:sp>
    </p:spTree>
    <p:extLst>
      <p:ext uri="{BB962C8B-B14F-4D97-AF65-F5344CB8AC3E}">
        <p14:creationId xmlns:p14="http://schemas.microsoft.com/office/powerpoint/2010/main" val="519555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A65B-98B2-4C45-8992-C61F5991783C}"/>
              </a:ext>
            </a:extLst>
          </p:cNvPr>
          <p:cNvSpPr>
            <a:spLocks noGrp="1"/>
          </p:cNvSpPr>
          <p:nvPr>
            <p:ph type="ctrTitle"/>
          </p:nvPr>
        </p:nvSpPr>
        <p:spPr/>
        <p:txBody>
          <a:bodyPr/>
          <a:lstStyle/>
          <a:p>
            <a:r>
              <a:rPr lang="en-US"/>
              <a:t>P2 Project: 4-bit RISC CPU Datapath</a:t>
            </a:r>
            <a:br>
              <a:rPr lang="en-US"/>
            </a:br>
            <a:r>
              <a:rPr lang="en-US"/>
              <a:t>(3-Stage Pipeline)</a:t>
            </a:r>
          </a:p>
        </p:txBody>
      </p:sp>
      <p:sp>
        <p:nvSpPr>
          <p:cNvPr id="3" name="Subtitle 2">
            <a:extLst>
              <a:ext uri="{FF2B5EF4-FFF2-40B4-BE49-F238E27FC236}">
                <a16:creationId xmlns:a16="http://schemas.microsoft.com/office/drawing/2014/main" id="{602BFD88-E3FA-4D95-B817-2BD8943DB233}"/>
              </a:ext>
            </a:extLst>
          </p:cNvPr>
          <p:cNvSpPr>
            <a:spLocks noGrp="1"/>
          </p:cNvSpPr>
          <p:nvPr>
            <p:ph type="subTitle" idx="1"/>
          </p:nvPr>
        </p:nvSpPr>
        <p:spPr/>
        <p:txBody>
          <a:bodyPr>
            <a:normAutofit fontScale="62500" lnSpcReduction="20000"/>
          </a:bodyPr>
          <a:lstStyle/>
          <a:p>
            <a:r>
              <a:rPr lang="en-US"/>
              <a:t>Custom Upgrades: N/V Flags, Early JMP, SHL Instruction</a:t>
            </a:r>
          </a:p>
          <a:p>
            <a:r>
              <a:rPr lang="en-US"/>
              <a:t>Student Name: Pham Xuan Nhat Minh</a:t>
            </a:r>
          </a:p>
          <a:p>
            <a:r>
              <a:rPr lang="en-US"/>
              <a:t>Roll Number: HE200288</a:t>
            </a:r>
          </a:p>
          <a:p>
            <a:r>
              <a:rPr lang="en-US"/>
              <a:t>Vivado Version: 2026.1</a:t>
            </a:r>
          </a:p>
        </p:txBody>
      </p:sp>
    </p:spTree>
    <p:extLst>
      <p:ext uri="{BB962C8B-B14F-4D97-AF65-F5344CB8AC3E}">
        <p14:creationId xmlns:p14="http://schemas.microsoft.com/office/powerpoint/2010/main" val="936726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34DC-3CAB-4D29-B34B-36E7F939680B}"/>
              </a:ext>
            </a:extLst>
          </p:cNvPr>
          <p:cNvSpPr>
            <a:spLocks noGrp="1"/>
          </p:cNvSpPr>
          <p:nvPr>
            <p:ph type="title"/>
          </p:nvPr>
        </p:nvSpPr>
        <p:spPr/>
        <p:txBody>
          <a:bodyPr/>
          <a:lstStyle/>
          <a:p>
            <a:r>
              <a:rPr lang="en-US"/>
              <a:t>Project Overview &amp; Design Architecture</a:t>
            </a:r>
          </a:p>
        </p:txBody>
      </p:sp>
      <p:sp>
        <p:nvSpPr>
          <p:cNvPr id="3" name="Text Placeholder 2">
            <a:extLst>
              <a:ext uri="{FF2B5EF4-FFF2-40B4-BE49-F238E27FC236}">
                <a16:creationId xmlns:a16="http://schemas.microsoft.com/office/drawing/2014/main" id="{24196FE6-7E9F-419D-A3B7-16CC25336B61}"/>
              </a:ext>
            </a:extLst>
          </p:cNvPr>
          <p:cNvSpPr>
            <a:spLocks noGrp="1"/>
          </p:cNvSpPr>
          <p:nvPr>
            <p:ph type="body" idx="1"/>
          </p:nvPr>
        </p:nvSpPr>
        <p:spPr>
          <a:xfrm>
            <a:off x="356701" y="1488614"/>
            <a:ext cx="3959980" cy="3880773"/>
          </a:xfrm>
        </p:spPr>
        <p:txBody>
          <a:bodyPr/>
          <a:lstStyle/>
          <a:p>
            <a:r>
              <a:rPr lang="en-US" dirty="0"/>
              <a:t>Modular Architecture:</a:t>
            </a:r>
          </a:p>
          <a:p>
            <a:pPr marL="0" indent="0">
              <a:buNone/>
            </a:pPr>
            <a:r>
              <a:rPr lang="en-US" dirty="0"/>
              <a:t>      Integrates 10 independent Verilog modules.</a:t>
            </a:r>
          </a:p>
          <a:p>
            <a:r>
              <a:rPr lang="en-US" dirty="0"/>
              <a:t>Design Paradigm:</a:t>
            </a:r>
          </a:p>
          <a:p>
            <a:pPr marL="0" indent="0">
              <a:buNone/>
            </a:pPr>
            <a:r>
              <a:rPr lang="en-US" dirty="0"/>
              <a:t>      3-Stage Pipeline architecture (IF - ID - EX).</a:t>
            </a:r>
          </a:p>
          <a:p>
            <a:r>
              <a:rPr lang="en-US" dirty="0"/>
              <a:t>Datapath Features:</a:t>
            </a:r>
          </a:p>
          <a:p>
            <a:pPr marL="0" indent="0">
              <a:buNone/>
            </a:pPr>
            <a:r>
              <a:rPr lang="en-US" dirty="0"/>
              <a:t>     12-bit Instruction Set, Harvard memory model, 4 general-purpose registers.</a:t>
            </a:r>
          </a:p>
        </p:txBody>
      </p:sp>
      <p:pic>
        <p:nvPicPr>
          <p:cNvPr id="6" name="Picture 5">
            <a:extLst>
              <a:ext uri="{FF2B5EF4-FFF2-40B4-BE49-F238E27FC236}">
                <a16:creationId xmlns:a16="http://schemas.microsoft.com/office/drawing/2014/main" id="{F03BDB45-27DE-4BA4-B0D5-B33BF3643C5A}"/>
              </a:ext>
            </a:extLst>
          </p:cNvPr>
          <p:cNvPicPr>
            <a:picLocks noChangeAspect="1"/>
          </p:cNvPicPr>
          <p:nvPr/>
        </p:nvPicPr>
        <p:blipFill>
          <a:blip r:embed="rId3"/>
          <a:stretch>
            <a:fillRect/>
          </a:stretch>
        </p:blipFill>
        <p:spPr>
          <a:xfrm>
            <a:off x="4761818" y="1793173"/>
            <a:ext cx="6944173" cy="3576213"/>
          </a:xfrm>
          <a:prstGeom prst="rect">
            <a:avLst/>
          </a:prstGeom>
        </p:spPr>
      </p:pic>
    </p:spTree>
    <p:extLst>
      <p:ext uri="{BB962C8B-B14F-4D97-AF65-F5344CB8AC3E}">
        <p14:creationId xmlns:p14="http://schemas.microsoft.com/office/powerpoint/2010/main" val="97986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34DC-3CAB-4D29-B34B-36E7F939680B}"/>
              </a:ext>
            </a:extLst>
          </p:cNvPr>
          <p:cNvSpPr>
            <a:spLocks noGrp="1"/>
          </p:cNvSpPr>
          <p:nvPr>
            <p:ph type="title"/>
          </p:nvPr>
        </p:nvSpPr>
        <p:spPr>
          <a:xfrm>
            <a:off x="125130" y="722415"/>
            <a:ext cx="9968895" cy="1320800"/>
          </a:xfrm>
        </p:spPr>
        <p:txBody>
          <a:bodyPr/>
          <a:lstStyle/>
          <a:p>
            <a:r>
              <a:rPr lang="en-US" dirty="0"/>
              <a:t>"Execution Paradigm: 3-Stage Pipeline Timing</a:t>
            </a:r>
          </a:p>
        </p:txBody>
      </p:sp>
      <p:sp>
        <p:nvSpPr>
          <p:cNvPr id="3" name="Text Placeholder 2">
            <a:extLst>
              <a:ext uri="{FF2B5EF4-FFF2-40B4-BE49-F238E27FC236}">
                <a16:creationId xmlns:a16="http://schemas.microsoft.com/office/drawing/2014/main" id="{24196FE6-7E9F-419D-A3B7-16CC25336B61}"/>
              </a:ext>
            </a:extLst>
          </p:cNvPr>
          <p:cNvSpPr>
            <a:spLocks noGrp="1"/>
          </p:cNvSpPr>
          <p:nvPr>
            <p:ph type="body" idx="1"/>
          </p:nvPr>
        </p:nvSpPr>
        <p:spPr>
          <a:xfrm>
            <a:off x="356701" y="1488614"/>
            <a:ext cx="3959980" cy="3880773"/>
          </a:xfrm>
        </p:spPr>
        <p:txBody>
          <a:bodyPr/>
          <a:lstStyle/>
          <a:p>
            <a:r>
              <a:rPr lang="en-US" dirty="0"/>
              <a:t>Modular Architecture:</a:t>
            </a:r>
          </a:p>
          <a:p>
            <a:pPr marL="0" indent="0">
              <a:buNone/>
            </a:pPr>
            <a:r>
              <a:rPr lang="en-US" dirty="0"/>
              <a:t>      Integrates 10 independent Verilog modules.</a:t>
            </a:r>
          </a:p>
          <a:p>
            <a:r>
              <a:rPr lang="en-US" dirty="0"/>
              <a:t>Design Paradigm:</a:t>
            </a:r>
          </a:p>
          <a:p>
            <a:pPr marL="0" indent="0">
              <a:buNone/>
            </a:pPr>
            <a:r>
              <a:rPr lang="en-US" dirty="0"/>
              <a:t>      3-Stage Pipeline architecture (IF - ID - EX).</a:t>
            </a:r>
          </a:p>
          <a:p>
            <a:r>
              <a:rPr lang="en-US" dirty="0"/>
              <a:t>Datapath Features:</a:t>
            </a:r>
          </a:p>
          <a:p>
            <a:pPr marL="0" indent="0">
              <a:buNone/>
            </a:pPr>
            <a:r>
              <a:rPr lang="en-US" dirty="0"/>
              <a:t>     12-bit Instruction Set, Harvard memory model, 4 general-purpose registers.</a:t>
            </a:r>
          </a:p>
        </p:txBody>
      </p:sp>
      <p:pic>
        <p:nvPicPr>
          <p:cNvPr id="5" name="Picture 4">
            <a:extLst>
              <a:ext uri="{FF2B5EF4-FFF2-40B4-BE49-F238E27FC236}">
                <a16:creationId xmlns:a16="http://schemas.microsoft.com/office/drawing/2014/main" id="{6FA18825-E52B-4E83-9CB1-7F5A70BCF836}"/>
              </a:ext>
            </a:extLst>
          </p:cNvPr>
          <p:cNvPicPr>
            <a:picLocks noChangeAspect="1"/>
          </p:cNvPicPr>
          <p:nvPr/>
        </p:nvPicPr>
        <p:blipFill>
          <a:blip r:embed="rId3"/>
          <a:stretch>
            <a:fillRect/>
          </a:stretch>
        </p:blipFill>
        <p:spPr>
          <a:xfrm>
            <a:off x="4873579" y="2723738"/>
            <a:ext cx="6437667" cy="1716711"/>
          </a:xfrm>
          <a:prstGeom prst="rect">
            <a:avLst/>
          </a:prstGeom>
        </p:spPr>
      </p:pic>
    </p:spTree>
    <p:extLst>
      <p:ext uri="{BB962C8B-B14F-4D97-AF65-F5344CB8AC3E}">
        <p14:creationId xmlns:p14="http://schemas.microsoft.com/office/powerpoint/2010/main" val="2003002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34DC-3CAB-4D29-B34B-36E7F939680B}"/>
              </a:ext>
            </a:extLst>
          </p:cNvPr>
          <p:cNvSpPr>
            <a:spLocks noGrp="1"/>
          </p:cNvSpPr>
          <p:nvPr>
            <p:ph type="title"/>
          </p:nvPr>
        </p:nvSpPr>
        <p:spPr/>
        <p:txBody>
          <a:bodyPr/>
          <a:lstStyle/>
          <a:p>
            <a:r>
              <a:rPr lang="en-US" dirty="0"/>
              <a:t>Memory Architecture: Harvard Model</a:t>
            </a:r>
          </a:p>
        </p:txBody>
      </p:sp>
      <p:sp>
        <p:nvSpPr>
          <p:cNvPr id="3" name="Text Placeholder 2">
            <a:extLst>
              <a:ext uri="{FF2B5EF4-FFF2-40B4-BE49-F238E27FC236}">
                <a16:creationId xmlns:a16="http://schemas.microsoft.com/office/drawing/2014/main" id="{24196FE6-7E9F-419D-A3B7-16CC25336B61}"/>
              </a:ext>
            </a:extLst>
          </p:cNvPr>
          <p:cNvSpPr>
            <a:spLocks noGrp="1"/>
          </p:cNvSpPr>
          <p:nvPr>
            <p:ph type="body" idx="1"/>
          </p:nvPr>
        </p:nvSpPr>
        <p:spPr>
          <a:xfrm>
            <a:off x="356701" y="1488614"/>
            <a:ext cx="3959980" cy="3880773"/>
          </a:xfrm>
        </p:spPr>
        <p:txBody>
          <a:bodyPr/>
          <a:lstStyle/>
          <a:p>
            <a:r>
              <a:rPr lang="en-US" dirty="0"/>
              <a:t>Modular Architecture:</a:t>
            </a:r>
          </a:p>
          <a:p>
            <a:pPr marL="0" indent="0">
              <a:buNone/>
            </a:pPr>
            <a:r>
              <a:rPr lang="en-US" dirty="0"/>
              <a:t>      Integrates 10 independent Verilog modules.</a:t>
            </a:r>
          </a:p>
          <a:p>
            <a:r>
              <a:rPr lang="en-US" dirty="0"/>
              <a:t>Design Paradigm:</a:t>
            </a:r>
          </a:p>
          <a:p>
            <a:pPr marL="0" indent="0">
              <a:buNone/>
            </a:pPr>
            <a:r>
              <a:rPr lang="en-US" dirty="0"/>
              <a:t>      3-Stage Pipeline architecture (IF - ID - EX).</a:t>
            </a:r>
          </a:p>
          <a:p>
            <a:r>
              <a:rPr lang="en-US" dirty="0"/>
              <a:t>Datapath Features:</a:t>
            </a:r>
          </a:p>
          <a:p>
            <a:pPr marL="0" indent="0">
              <a:buNone/>
            </a:pPr>
            <a:r>
              <a:rPr lang="en-US" dirty="0"/>
              <a:t>     12-bit Instruction Set, Harvard memory model, 4 general-purpose registers.</a:t>
            </a:r>
          </a:p>
        </p:txBody>
      </p:sp>
      <p:pic>
        <p:nvPicPr>
          <p:cNvPr id="8" name="Picture 7">
            <a:extLst>
              <a:ext uri="{FF2B5EF4-FFF2-40B4-BE49-F238E27FC236}">
                <a16:creationId xmlns:a16="http://schemas.microsoft.com/office/drawing/2014/main" id="{647EAEFB-17A8-4F54-AD74-746219205D90}"/>
              </a:ext>
            </a:extLst>
          </p:cNvPr>
          <p:cNvPicPr>
            <a:picLocks noChangeAspect="1"/>
          </p:cNvPicPr>
          <p:nvPr/>
        </p:nvPicPr>
        <p:blipFill>
          <a:blip r:embed="rId3"/>
          <a:stretch>
            <a:fillRect/>
          </a:stretch>
        </p:blipFill>
        <p:spPr>
          <a:xfrm>
            <a:off x="6096000" y="1758053"/>
            <a:ext cx="4712612" cy="3611334"/>
          </a:xfrm>
          <a:prstGeom prst="rect">
            <a:avLst/>
          </a:prstGeom>
        </p:spPr>
      </p:pic>
    </p:spTree>
    <p:extLst>
      <p:ext uri="{BB962C8B-B14F-4D97-AF65-F5344CB8AC3E}">
        <p14:creationId xmlns:p14="http://schemas.microsoft.com/office/powerpoint/2010/main" val="1555659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98AE5-0FB0-4F46-93D0-54EF599B68F7}"/>
              </a:ext>
            </a:extLst>
          </p:cNvPr>
          <p:cNvSpPr>
            <a:spLocks noGrp="1"/>
          </p:cNvSpPr>
          <p:nvPr>
            <p:ph type="title"/>
          </p:nvPr>
        </p:nvSpPr>
        <p:spPr/>
        <p:txBody>
          <a:bodyPr/>
          <a:lstStyle/>
          <a:p>
            <a:r>
              <a:rPr lang="en-US"/>
              <a:t>Architecture Highlight: Custom Upgrades</a:t>
            </a:r>
          </a:p>
        </p:txBody>
      </p:sp>
      <p:sp>
        <p:nvSpPr>
          <p:cNvPr id="3" name="Text Placeholder 2">
            <a:extLst>
              <a:ext uri="{FF2B5EF4-FFF2-40B4-BE49-F238E27FC236}">
                <a16:creationId xmlns:a16="http://schemas.microsoft.com/office/drawing/2014/main" id="{40558E5F-F8C6-4848-8E00-47C743A8D221}"/>
              </a:ext>
            </a:extLst>
          </p:cNvPr>
          <p:cNvSpPr>
            <a:spLocks noGrp="1"/>
          </p:cNvSpPr>
          <p:nvPr>
            <p:ph type="body" idx="1"/>
          </p:nvPr>
        </p:nvSpPr>
        <p:spPr>
          <a:xfrm>
            <a:off x="606082" y="1380733"/>
            <a:ext cx="4239050" cy="3880773"/>
          </a:xfrm>
        </p:spPr>
        <p:txBody>
          <a:bodyPr/>
          <a:lstStyle/>
          <a:p>
            <a:r>
              <a:rPr lang="en-US" dirty="0"/>
              <a:t> Advanced Flag Detection:</a:t>
            </a:r>
          </a:p>
          <a:p>
            <a:pPr marL="0" indent="0">
              <a:buNone/>
            </a:pPr>
            <a:r>
              <a:rPr lang="en-US" dirty="0"/>
              <a:t>      Upgraded ALU with Negative (N) and Overflow (V) flags for signed arithmetic.</a:t>
            </a:r>
          </a:p>
          <a:p>
            <a:r>
              <a:rPr lang="en-US" dirty="0"/>
              <a:t>Hardware Optimization:</a:t>
            </a:r>
          </a:p>
          <a:p>
            <a:pPr marL="0" indent="0">
              <a:buNone/>
            </a:pPr>
            <a:r>
              <a:rPr lang="en-US" dirty="0"/>
              <a:t>     Relocated JMP logic to Decode (ID) stage, reducing branch penalty to 1 cycle.</a:t>
            </a:r>
          </a:p>
          <a:p>
            <a:r>
              <a:rPr lang="en-US" dirty="0"/>
              <a:t>Datapath Control:</a:t>
            </a:r>
          </a:p>
          <a:p>
            <a:pPr marL="0" indent="0">
              <a:buNone/>
            </a:pPr>
            <a:r>
              <a:rPr lang="en-US" dirty="0"/>
              <a:t>     Implemented Logical Shift Left (SHL) instruction using opcode 1100.</a:t>
            </a:r>
          </a:p>
        </p:txBody>
      </p:sp>
      <p:pic>
        <p:nvPicPr>
          <p:cNvPr id="6" name="Picture 5">
            <a:extLst>
              <a:ext uri="{FF2B5EF4-FFF2-40B4-BE49-F238E27FC236}">
                <a16:creationId xmlns:a16="http://schemas.microsoft.com/office/drawing/2014/main" id="{4303C4D9-06A8-4C84-8F0F-844AAD0E31D6}"/>
              </a:ext>
            </a:extLst>
          </p:cNvPr>
          <p:cNvPicPr>
            <a:picLocks noChangeAspect="1"/>
          </p:cNvPicPr>
          <p:nvPr/>
        </p:nvPicPr>
        <p:blipFill rotWithShape="1">
          <a:blip r:embed="rId3"/>
          <a:srcRect l="3612" r="5691"/>
          <a:stretch/>
        </p:blipFill>
        <p:spPr>
          <a:xfrm>
            <a:off x="4961009" y="4807390"/>
            <a:ext cx="2098557" cy="1789354"/>
          </a:xfrm>
          <a:prstGeom prst="rect">
            <a:avLst/>
          </a:prstGeom>
        </p:spPr>
      </p:pic>
      <p:pic>
        <p:nvPicPr>
          <p:cNvPr id="8" name="Picture 7">
            <a:extLst>
              <a:ext uri="{FF2B5EF4-FFF2-40B4-BE49-F238E27FC236}">
                <a16:creationId xmlns:a16="http://schemas.microsoft.com/office/drawing/2014/main" id="{BD242C20-A2FF-40CF-BF1A-BDDB1CC57124}"/>
              </a:ext>
            </a:extLst>
          </p:cNvPr>
          <p:cNvPicPr>
            <a:picLocks noChangeAspect="1"/>
          </p:cNvPicPr>
          <p:nvPr/>
        </p:nvPicPr>
        <p:blipFill>
          <a:blip r:embed="rId4"/>
          <a:stretch>
            <a:fillRect/>
          </a:stretch>
        </p:blipFill>
        <p:spPr>
          <a:xfrm>
            <a:off x="4770013" y="1270000"/>
            <a:ext cx="5709961" cy="3283228"/>
          </a:xfrm>
          <a:prstGeom prst="rect">
            <a:avLst/>
          </a:prstGeom>
        </p:spPr>
      </p:pic>
    </p:spTree>
    <p:extLst>
      <p:ext uri="{BB962C8B-B14F-4D97-AF65-F5344CB8AC3E}">
        <p14:creationId xmlns:p14="http://schemas.microsoft.com/office/powerpoint/2010/main" val="2659258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5FE8-CC98-4777-8F3D-8E86F497218E}"/>
              </a:ext>
            </a:extLst>
          </p:cNvPr>
          <p:cNvSpPr>
            <a:spLocks noGrp="1"/>
          </p:cNvSpPr>
          <p:nvPr>
            <p:ph type="title"/>
          </p:nvPr>
        </p:nvSpPr>
        <p:spPr/>
        <p:txBody>
          <a:bodyPr/>
          <a:lstStyle/>
          <a:p>
            <a:r>
              <a:rPr lang="en-US"/>
              <a:t>RTL Analysis: Elaborated Schematic</a:t>
            </a:r>
          </a:p>
        </p:txBody>
      </p:sp>
      <p:sp>
        <p:nvSpPr>
          <p:cNvPr id="3" name="Text Placeholder 2">
            <a:extLst>
              <a:ext uri="{FF2B5EF4-FFF2-40B4-BE49-F238E27FC236}">
                <a16:creationId xmlns:a16="http://schemas.microsoft.com/office/drawing/2014/main" id="{7DFC2340-AFD7-4180-91A9-9BDC3F631BAC}"/>
              </a:ext>
            </a:extLst>
          </p:cNvPr>
          <p:cNvSpPr>
            <a:spLocks noGrp="1"/>
          </p:cNvSpPr>
          <p:nvPr>
            <p:ph type="body" idx="1"/>
          </p:nvPr>
        </p:nvSpPr>
        <p:spPr>
          <a:xfrm>
            <a:off x="1045469" y="5169964"/>
            <a:ext cx="8959492" cy="1688036"/>
          </a:xfrm>
        </p:spPr>
        <p:txBody>
          <a:bodyPr>
            <a:normAutofit/>
          </a:bodyPr>
          <a:lstStyle/>
          <a:p>
            <a:r>
              <a:rPr lang="en-US" sz="1600" dirty="0"/>
              <a:t>Mapping Code to Hardware:</a:t>
            </a:r>
          </a:p>
          <a:p>
            <a:pPr marL="0" indent="0">
              <a:buNone/>
            </a:pPr>
            <a:r>
              <a:rPr lang="en-US" sz="1600" dirty="0"/>
              <a:t>     </a:t>
            </a:r>
            <a:r>
              <a:rPr lang="en-US" sz="1600" dirty="0" err="1"/>
              <a:t>Vivado</a:t>
            </a:r>
            <a:r>
              <a:rPr lang="en-US" sz="1600" dirty="0"/>
              <a:t> synthesizes the Verilog code into physical CPU components.</a:t>
            </a:r>
          </a:p>
          <a:p>
            <a:r>
              <a:rPr lang="en-US" sz="1600" dirty="0"/>
              <a:t>Pipeline Isolation Proof:</a:t>
            </a:r>
          </a:p>
          <a:p>
            <a:pPr marL="0" indent="0">
              <a:buNone/>
            </a:pPr>
            <a:r>
              <a:rPr lang="en-US" sz="1600" dirty="0"/>
              <a:t>     Schematic displays IF/ID and ID/EX registers acting as signal boundaries.</a:t>
            </a:r>
          </a:p>
        </p:txBody>
      </p:sp>
      <p:pic>
        <p:nvPicPr>
          <p:cNvPr id="6" name="Picture 5">
            <a:extLst>
              <a:ext uri="{FF2B5EF4-FFF2-40B4-BE49-F238E27FC236}">
                <a16:creationId xmlns:a16="http://schemas.microsoft.com/office/drawing/2014/main" id="{2EE80078-418A-4DE9-B369-1BCA22E8EDB6}"/>
              </a:ext>
            </a:extLst>
          </p:cNvPr>
          <p:cNvPicPr>
            <a:picLocks noChangeAspect="1"/>
          </p:cNvPicPr>
          <p:nvPr/>
        </p:nvPicPr>
        <p:blipFill>
          <a:blip r:embed="rId3"/>
          <a:stretch>
            <a:fillRect/>
          </a:stretch>
        </p:blipFill>
        <p:spPr>
          <a:xfrm>
            <a:off x="547212" y="1518723"/>
            <a:ext cx="9956005" cy="3408878"/>
          </a:xfrm>
          <a:prstGeom prst="rect">
            <a:avLst/>
          </a:prstGeom>
        </p:spPr>
      </p:pic>
    </p:spTree>
    <p:extLst>
      <p:ext uri="{BB962C8B-B14F-4D97-AF65-F5344CB8AC3E}">
        <p14:creationId xmlns:p14="http://schemas.microsoft.com/office/powerpoint/2010/main" val="2839687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12EA-4170-4523-9475-B8EC1D16EEB3}"/>
              </a:ext>
            </a:extLst>
          </p:cNvPr>
          <p:cNvSpPr>
            <a:spLocks noGrp="1"/>
          </p:cNvSpPr>
          <p:nvPr>
            <p:ph type="title"/>
          </p:nvPr>
        </p:nvSpPr>
        <p:spPr/>
        <p:txBody>
          <a:bodyPr/>
          <a:lstStyle/>
          <a:p>
            <a:r>
              <a:rPr lang="en-US"/>
              <a:t>Pipeline Execution &amp; Hazard Handling</a:t>
            </a:r>
          </a:p>
        </p:txBody>
      </p:sp>
      <p:sp>
        <p:nvSpPr>
          <p:cNvPr id="3" name="Text Placeholder 2">
            <a:extLst>
              <a:ext uri="{FF2B5EF4-FFF2-40B4-BE49-F238E27FC236}">
                <a16:creationId xmlns:a16="http://schemas.microsoft.com/office/drawing/2014/main" id="{3E4D783F-FC4F-480D-BA40-B88CA7342C84}"/>
              </a:ext>
            </a:extLst>
          </p:cNvPr>
          <p:cNvSpPr>
            <a:spLocks noGrp="1"/>
          </p:cNvSpPr>
          <p:nvPr>
            <p:ph type="body" idx="1"/>
          </p:nvPr>
        </p:nvSpPr>
        <p:spPr>
          <a:xfrm>
            <a:off x="677334" y="2160589"/>
            <a:ext cx="4339991" cy="3880773"/>
          </a:xfrm>
        </p:spPr>
        <p:txBody>
          <a:bodyPr/>
          <a:lstStyle/>
          <a:p>
            <a:r>
              <a:rPr lang="en-US" dirty="0"/>
              <a:t>Data Hazard Resolution:</a:t>
            </a:r>
          </a:p>
          <a:p>
            <a:pPr marL="0" indent="0">
              <a:buNone/>
            </a:pPr>
            <a:r>
              <a:rPr lang="en-US" dirty="0"/>
              <a:t>     Combinational read ports in the Execute (EX) stage provide instantly updated data.</a:t>
            </a:r>
          </a:p>
          <a:p>
            <a:r>
              <a:rPr lang="en-US" dirty="0"/>
              <a:t>Control Hazard Resolution:</a:t>
            </a:r>
          </a:p>
          <a:p>
            <a:pPr marL="0" indent="0">
              <a:buNone/>
            </a:pPr>
            <a:r>
              <a:rPr lang="en-US" dirty="0"/>
              <a:t>      Automated flush signal clears pipeline registers upon branch execution (JMP/JZ).</a:t>
            </a:r>
          </a:p>
        </p:txBody>
      </p:sp>
      <p:pic>
        <p:nvPicPr>
          <p:cNvPr id="6" name="Picture 5">
            <a:extLst>
              <a:ext uri="{FF2B5EF4-FFF2-40B4-BE49-F238E27FC236}">
                <a16:creationId xmlns:a16="http://schemas.microsoft.com/office/drawing/2014/main" id="{E7AC95DE-5A6F-4C92-B5E9-B3B3A61258AF}"/>
              </a:ext>
            </a:extLst>
          </p:cNvPr>
          <p:cNvPicPr>
            <a:picLocks noChangeAspect="1"/>
          </p:cNvPicPr>
          <p:nvPr/>
        </p:nvPicPr>
        <p:blipFill>
          <a:blip r:embed="rId3"/>
          <a:stretch>
            <a:fillRect/>
          </a:stretch>
        </p:blipFill>
        <p:spPr>
          <a:xfrm>
            <a:off x="5166207" y="1780562"/>
            <a:ext cx="6469827" cy="3880773"/>
          </a:xfrm>
          <a:prstGeom prst="rect">
            <a:avLst/>
          </a:prstGeom>
        </p:spPr>
      </p:pic>
    </p:spTree>
    <p:extLst>
      <p:ext uri="{BB962C8B-B14F-4D97-AF65-F5344CB8AC3E}">
        <p14:creationId xmlns:p14="http://schemas.microsoft.com/office/powerpoint/2010/main" val="97833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C7329-5D4D-4B48-AB21-01B8C4300F45}"/>
              </a:ext>
            </a:extLst>
          </p:cNvPr>
          <p:cNvSpPr>
            <a:spLocks noGrp="1"/>
          </p:cNvSpPr>
          <p:nvPr>
            <p:ph type="title"/>
          </p:nvPr>
        </p:nvSpPr>
        <p:spPr/>
        <p:txBody>
          <a:bodyPr/>
          <a:lstStyle/>
          <a:p>
            <a:r>
              <a:rPr lang="en-US"/>
              <a:t>Automated Verification &amp; Testbench</a:t>
            </a:r>
          </a:p>
        </p:txBody>
      </p:sp>
      <p:sp>
        <p:nvSpPr>
          <p:cNvPr id="3" name="Text Placeholder 2">
            <a:extLst>
              <a:ext uri="{FF2B5EF4-FFF2-40B4-BE49-F238E27FC236}">
                <a16:creationId xmlns:a16="http://schemas.microsoft.com/office/drawing/2014/main" id="{9A514D46-CEA0-419A-AE00-EACA78DB0B61}"/>
              </a:ext>
            </a:extLst>
          </p:cNvPr>
          <p:cNvSpPr>
            <a:spLocks noGrp="1"/>
          </p:cNvSpPr>
          <p:nvPr>
            <p:ph type="body" idx="1"/>
          </p:nvPr>
        </p:nvSpPr>
        <p:spPr>
          <a:xfrm>
            <a:off x="677334" y="2160589"/>
            <a:ext cx="3568095" cy="3880773"/>
          </a:xfrm>
        </p:spPr>
        <p:txBody>
          <a:bodyPr>
            <a:normAutofit lnSpcReduction="10000"/>
          </a:bodyPr>
          <a:lstStyle/>
          <a:p>
            <a:r>
              <a:rPr lang="en-US" dirty="0"/>
              <a:t>Self-Checking Mechanism:</a:t>
            </a:r>
          </a:p>
          <a:p>
            <a:pPr marL="0" indent="0">
              <a:buNone/>
            </a:pPr>
            <a:r>
              <a:rPr lang="en-US" dirty="0"/>
              <a:t>     Automated top-level testbench sweeping 4 independent machine code programs.</a:t>
            </a:r>
          </a:p>
          <a:p>
            <a:r>
              <a:rPr lang="en-US" dirty="0"/>
              <a:t>Test Coverage:</a:t>
            </a:r>
          </a:p>
          <a:p>
            <a:pPr marL="0" indent="0">
              <a:buNone/>
            </a:pPr>
            <a:r>
              <a:rPr lang="en-US" dirty="0"/>
              <a:t>     41 rigorous functional checks (Arithmetic, Memory, Early Branch, Reset).</a:t>
            </a:r>
          </a:p>
          <a:p>
            <a:r>
              <a:rPr lang="en-US" dirty="0"/>
              <a:t>Verification Output:</a:t>
            </a:r>
          </a:p>
          <a:p>
            <a:pPr marL="0" indent="0">
              <a:buNone/>
            </a:pPr>
            <a:r>
              <a:rPr lang="en-US" dirty="0"/>
              <a:t>     </a:t>
            </a:r>
            <a:r>
              <a:rPr lang="en-US" dirty="0" err="1"/>
              <a:t>Tcl</a:t>
            </a:r>
            <a:r>
              <a:rPr lang="en-US" dirty="0"/>
              <a:t> Console outputs '41 of 41 checks OK'.</a:t>
            </a:r>
          </a:p>
        </p:txBody>
      </p:sp>
      <p:pic>
        <p:nvPicPr>
          <p:cNvPr id="6" name="Picture 5">
            <a:extLst>
              <a:ext uri="{FF2B5EF4-FFF2-40B4-BE49-F238E27FC236}">
                <a16:creationId xmlns:a16="http://schemas.microsoft.com/office/drawing/2014/main" id="{4E8A9EA1-8A6F-4F14-8FF4-3C1801B922CA}"/>
              </a:ext>
            </a:extLst>
          </p:cNvPr>
          <p:cNvPicPr>
            <a:picLocks noChangeAspect="1"/>
          </p:cNvPicPr>
          <p:nvPr/>
        </p:nvPicPr>
        <p:blipFill>
          <a:blip r:embed="rId3"/>
          <a:stretch>
            <a:fillRect/>
          </a:stretch>
        </p:blipFill>
        <p:spPr>
          <a:xfrm>
            <a:off x="4775263" y="4386798"/>
            <a:ext cx="6985398" cy="1681967"/>
          </a:xfrm>
          <a:prstGeom prst="rect">
            <a:avLst/>
          </a:prstGeom>
        </p:spPr>
      </p:pic>
      <p:pic>
        <p:nvPicPr>
          <p:cNvPr id="8" name="Picture 7">
            <a:extLst>
              <a:ext uri="{FF2B5EF4-FFF2-40B4-BE49-F238E27FC236}">
                <a16:creationId xmlns:a16="http://schemas.microsoft.com/office/drawing/2014/main" id="{BD520F36-E102-461B-8C3A-72D5D03113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5263" y="1273452"/>
            <a:ext cx="3195089" cy="3113346"/>
          </a:xfrm>
          <a:prstGeom prst="rect">
            <a:avLst/>
          </a:prstGeom>
        </p:spPr>
      </p:pic>
      <p:pic>
        <p:nvPicPr>
          <p:cNvPr id="10" name="Picture 9">
            <a:extLst>
              <a:ext uri="{FF2B5EF4-FFF2-40B4-BE49-F238E27FC236}">
                <a16:creationId xmlns:a16="http://schemas.microsoft.com/office/drawing/2014/main" id="{11DD6A0C-0F02-4F4D-9D50-36F85A24EE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2658" y="789235"/>
            <a:ext cx="3108003" cy="3622705"/>
          </a:xfrm>
          <a:prstGeom prst="rect">
            <a:avLst/>
          </a:prstGeom>
        </p:spPr>
      </p:pic>
    </p:spTree>
    <p:extLst>
      <p:ext uri="{BB962C8B-B14F-4D97-AF65-F5344CB8AC3E}">
        <p14:creationId xmlns:p14="http://schemas.microsoft.com/office/powerpoint/2010/main" val="3448584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4E4B-DEA1-41BD-8BC9-EA5DEC6720BF}"/>
              </a:ext>
            </a:extLst>
          </p:cNvPr>
          <p:cNvSpPr>
            <a:spLocks noGrp="1"/>
          </p:cNvSpPr>
          <p:nvPr>
            <p:ph type="title"/>
          </p:nvPr>
        </p:nvSpPr>
        <p:spPr/>
        <p:txBody>
          <a:bodyPr/>
          <a:lstStyle/>
          <a:p>
            <a:r>
              <a:rPr lang="en-US" dirty="0"/>
              <a:t>Waveform &amp; Timing Analysis</a:t>
            </a:r>
          </a:p>
        </p:txBody>
      </p:sp>
      <p:sp>
        <p:nvSpPr>
          <p:cNvPr id="3" name="Text Placeholder 2">
            <a:extLst>
              <a:ext uri="{FF2B5EF4-FFF2-40B4-BE49-F238E27FC236}">
                <a16:creationId xmlns:a16="http://schemas.microsoft.com/office/drawing/2014/main" id="{60E7D247-3479-4F83-9587-5C9B4A6F4EED}"/>
              </a:ext>
            </a:extLst>
          </p:cNvPr>
          <p:cNvSpPr>
            <a:spLocks noGrp="1"/>
          </p:cNvSpPr>
          <p:nvPr>
            <p:ph type="body" idx="1"/>
          </p:nvPr>
        </p:nvSpPr>
        <p:spPr>
          <a:xfrm>
            <a:off x="522954" y="5228441"/>
            <a:ext cx="11574041" cy="1320800"/>
          </a:xfrm>
        </p:spPr>
        <p:txBody>
          <a:bodyPr>
            <a:normAutofit fontScale="92500" lnSpcReduction="10000"/>
          </a:bodyPr>
          <a:lstStyle/>
          <a:p>
            <a:r>
              <a:rPr lang="en-US" sz="1600" dirty="0"/>
              <a:t>Pipeline Execution:</a:t>
            </a:r>
          </a:p>
          <a:p>
            <a:pPr marL="0" indent="0">
              <a:buNone/>
            </a:pPr>
            <a:r>
              <a:rPr lang="en-US" sz="1600" dirty="0"/>
              <a:t>     Simulation waveform tracks concurrent instruction flow across clock cycles.</a:t>
            </a:r>
          </a:p>
          <a:p>
            <a:r>
              <a:rPr lang="en-US" sz="1600" dirty="0"/>
              <a:t>Step Verification:</a:t>
            </a:r>
          </a:p>
          <a:p>
            <a:pPr marL="0" indent="0">
              <a:buNone/>
            </a:pPr>
            <a:r>
              <a:rPr lang="en-US" sz="1600" dirty="0"/>
              <a:t>     Matches simulation data against theory, proving accuracy of N/V flags and JMP flush.</a:t>
            </a:r>
          </a:p>
        </p:txBody>
      </p:sp>
      <p:pic>
        <p:nvPicPr>
          <p:cNvPr id="6" name="Picture 5">
            <a:extLst>
              <a:ext uri="{FF2B5EF4-FFF2-40B4-BE49-F238E27FC236}">
                <a16:creationId xmlns:a16="http://schemas.microsoft.com/office/drawing/2014/main" id="{EE5870CE-5803-4FB5-8BA2-C4D142273F6C}"/>
              </a:ext>
            </a:extLst>
          </p:cNvPr>
          <p:cNvPicPr>
            <a:picLocks noChangeAspect="1"/>
          </p:cNvPicPr>
          <p:nvPr/>
        </p:nvPicPr>
        <p:blipFill>
          <a:blip r:embed="rId3"/>
          <a:stretch>
            <a:fillRect/>
          </a:stretch>
        </p:blipFill>
        <p:spPr>
          <a:xfrm>
            <a:off x="1104272" y="1496260"/>
            <a:ext cx="9310335" cy="3491375"/>
          </a:xfrm>
          <a:prstGeom prst="rect">
            <a:avLst/>
          </a:prstGeom>
        </p:spPr>
      </p:pic>
    </p:spTree>
    <p:extLst>
      <p:ext uri="{BB962C8B-B14F-4D97-AF65-F5344CB8AC3E}">
        <p14:creationId xmlns:p14="http://schemas.microsoft.com/office/powerpoint/2010/main" val="3273714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D4731-08AC-4B3D-9A08-AD3F470C2058}"/>
              </a:ext>
            </a:extLst>
          </p:cNvPr>
          <p:cNvSpPr>
            <a:spLocks noGrp="1"/>
          </p:cNvSpPr>
          <p:nvPr>
            <p:ph type="title"/>
          </p:nvPr>
        </p:nvSpPr>
        <p:spPr/>
        <p:txBody>
          <a:bodyPr/>
          <a:lstStyle/>
          <a:p>
            <a:r>
              <a:rPr lang="en-US"/>
              <a:t>Synthesis: Hardware Utilization</a:t>
            </a:r>
          </a:p>
        </p:txBody>
      </p:sp>
      <p:sp>
        <p:nvSpPr>
          <p:cNvPr id="3" name="Text Placeholder 2">
            <a:extLst>
              <a:ext uri="{FF2B5EF4-FFF2-40B4-BE49-F238E27FC236}">
                <a16:creationId xmlns:a16="http://schemas.microsoft.com/office/drawing/2014/main" id="{657DE816-8AAE-4D77-9032-F6A2971BE01C}"/>
              </a:ext>
            </a:extLst>
          </p:cNvPr>
          <p:cNvSpPr>
            <a:spLocks noGrp="1"/>
          </p:cNvSpPr>
          <p:nvPr>
            <p:ph type="body" idx="1"/>
          </p:nvPr>
        </p:nvSpPr>
        <p:spPr>
          <a:xfrm>
            <a:off x="807962" y="5254831"/>
            <a:ext cx="10717040" cy="1140032"/>
          </a:xfrm>
        </p:spPr>
        <p:txBody>
          <a:bodyPr>
            <a:normAutofit fontScale="77500" lnSpcReduction="20000"/>
          </a:bodyPr>
          <a:lstStyle/>
          <a:p>
            <a:r>
              <a:rPr lang="en-US" sz="1600" dirty="0"/>
              <a:t>High Efficiency:</a:t>
            </a:r>
          </a:p>
          <a:p>
            <a:pPr marL="0" indent="0">
              <a:buNone/>
            </a:pPr>
            <a:r>
              <a:rPr lang="en-US" sz="1600" dirty="0"/>
              <a:t>     The 3-Stage Pipeline architecture optimizes the surface area footprint.</a:t>
            </a:r>
          </a:p>
          <a:p>
            <a:r>
              <a:rPr lang="en-US" sz="1600" dirty="0"/>
              <a:t>Resource Count:</a:t>
            </a:r>
          </a:p>
          <a:p>
            <a:pPr marL="0" indent="0">
              <a:buNone/>
            </a:pPr>
            <a:r>
              <a:rPr lang="en-US" sz="1600" dirty="0"/>
              <a:t>     Low utilization of Slice LUTs and Slice Registers on Artix-7.</a:t>
            </a:r>
          </a:p>
        </p:txBody>
      </p:sp>
      <p:pic>
        <p:nvPicPr>
          <p:cNvPr id="5" name="Picture 4">
            <a:extLst>
              <a:ext uri="{FF2B5EF4-FFF2-40B4-BE49-F238E27FC236}">
                <a16:creationId xmlns:a16="http://schemas.microsoft.com/office/drawing/2014/main" id="{B09B697C-798D-4D27-8419-ADE204E2EE1E}"/>
              </a:ext>
            </a:extLst>
          </p:cNvPr>
          <p:cNvPicPr>
            <a:picLocks noChangeAspect="1"/>
          </p:cNvPicPr>
          <p:nvPr/>
        </p:nvPicPr>
        <p:blipFill>
          <a:blip r:embed="rId3"/>
          <a:stretch>
            <a:fillRect/>
          </a:stretch>
        </p:blipFill>
        <p:spPr>
          <a:xfrm>
            <a:off x="1396093" y="1317897"/>
            <a:ext cx="6857768" cy="3931392"/>
          </a:xfrm>
          <a:prstGeom prst="rect">
            <a:avLst/>
          </a:prstGeom>
        </p:spPr>
      </p:pic>
      <p:pic>
        <p:nvPicPr>
          <p:cNvPr id="7" name="Picture 6">
            <a:extLst>
              <a:ext uri="{FF2B5EF4-FFF2-40B4-BE49-F238E27FC236}">
                <a16:creationId xmlns:a16="http://schemas.microsoft.com/office/drawing/2014/main" id="{714B83DB-6182-4ACD-A21D-320DA9842C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4462" y="3763611"/>
            <a:ext cx="4584936" cy="1581231"/>
          </a:xfrm>
          <a:prstGeom prst="rect">
            <a:avLst/>
          </a:prstGeom>
        </p:spPr>
      </p:pic>
      <p:pic>
        <p:nvPicPr>
          <p:cNvPr id="11" name="Picture 10">
            <a:extLst>
              <a:ext uri="{FF2B5EF4-FFF2-40B4-BE49-F238E27FC236}">
                <a16:creationId xmlns:a16="http://schemas.microsoft.com/office/drawing/2014/main" id="{0FC98CC5-58E4-43D0-B74D-41B63110FBE4}"/>
              </a:ext>
            </a:extLst>
          </p:cNvPr>
          <p:cNvPicPr>
            <a:picLocks noChangeAspect="1"/>
          </p:cNvPicPr>
          <p:nvPr/>
        </p:nvPicPr>
        <p:blipFill rotWithShape="1">
          <a:blip r:embed="rId5">
            <a:extLst>
              <a:ext uri="{28A0092B-C50C-407E-A947-70E740481C1C}">
                <a14:useLocalDpi xmlns:a14="http://schemas.microsoft.com/office/drawing/2010/main" val="0"/>
              </a:ext>
            </a:extLst>
          </a:blip>
          <a:srcRect t="10713"/>
          <a:stretch/>
        </p:blipFill>
        <p:spPr>
          <a:xfrm>
            <a:off x="3537163" y="2040652"/>
            <a:ext cx="4572235" cy="1712346"/>
          </a:xfrm>
          <a:prstGeom prst="rect">
            <a:avLst/>
          </a:prstGeom>
        </p:spPr>
      </p:pic>
    </p:spTree>
    <p:extLst>
      <p:ext uri="{BB962C8B-B14F-4D97-AF65-F5344CB8AC3E}">
        <p14:creationId xmlns:p14="http://schemas.microsoft.com/office/powerpoint/2010/main" val="4294071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AC8E-8EB1-4F0D-955D-A694D4883A3E}"/>
              </a:ext>
            </a:extLst>
          </p:cNvPr>
          <p:cNvSpPr>
            <a:spLocks noGrp="1"/>
          </p:cNvSpPr>
          <p:nvPr>
            <p:ph type="title"/>
          </p:nvPr>
        </p:nvSpPr>
        <p:spPr/>
        <p:txBody>
          <a:bodyPr/>
          <a:lstStyle/>
          <a:p>
            <a:r>
              <a:rPr lang="en-US"/>
              <a:t>Implementation: Physical Device View</a:t>
            </a:r>
          </a:p>
        </p:txBody>
      </p:sp>
      <p:sp>
        <p:nvSpPr>
          <p:cNvPr id="3" name="Text Placeholder 2">
            <a:extLst>
              <a:ext uri="{FF2B5EF4-FFF2-40B4-BE49-F238E27FC236}">
                <a16:creationId xmlns:a16="http://schemas.microsoft.com/office/drawing/2014/main" id="{C77F41ED-BD96-4624-891C-1B488DF05C5D}"/>
              </a:ext>
            </a:extLst>
          </p:cNvPr>
          <p:cNvSpPr>
            <a:spLocks noGrp="1"/>
          </p:cNvSpPr>
          <p:nvPr>
            <p:ph type="body" idx="1"/>
          </p:nvPr>
        </p:nvSpPr>
        <p:spPr>
          <a:xfrm>
            <a:off x="1110470" y="5241456"/>
            <a:ext cx="7730396" cy="1669983"/>
          </a:xfrm>
        </p:spPr>
        <p:txBody>
          <a:bodyPr>
            <a:normAutofit/>
          </a:bodyPr>
          <a:lstStyle/>
          <a:p>
            <a:r>
              <a:rPr lang="en-US" sz="1600" dirty="0"/>
              <a:t> Physical Mapping:</a:t>
            </a:r>
          </a:p>
          <a:p>
            <a:pPr marL="0" indent="0">
              <a:buNone/>
            </a:pPr>
            <a:r>
              <a:rPr lang="en-US" sz="1600" dirty="0"/>
              <a:t>      Logic gates placed and routed successfully on Artix-7 silicon.</a:t>
            </a:r>
          </a:p>
          <a:p>
            <a:r>
              <a:rPr lang="en-US" sz="1600" dirty="0"/>
              <a:t>Location:</a:t>
            </a:r>
          </a:p>
          <a:p>
            <a:pPr marL="0" indent="0">
              <a:buNone/>
            </a:pPr>
            <a:r>
              <a:rPr lang="en-US" sz="1600" dirty="0"/>
              <a:t>     CPU core modules compactly clustered to minimize signal delay.</a:t>
            </a:r>
          </a:p>
        </p:txBody>
      </p:sp>
      <p:pic>
        <p:nvPicPr>
          <p:cNvPr id="5" name="Picture 4">
            <a:extLst>
              <a:ext uri="{FF2B5EF4-FFF2-40B4-BE49-F238E27FC236}">
                <a16:creationId xmlns:a16="http://schemas.microsoft.com/office/drawing/2014/main" id="{4712D6F2-0948-4293-BF3E-76C4DB1E70B0}"/>
              </a:ext>
            </a:extLst>
          </p:cNvPr>
          <p:cNvPicPr>
            <a:picLocks noChangeAspect="1"/>
          </p:cNvPicPr>
          <p:nvPr/>
        </p:nvPicPr>
        <p:blipFill rotWithShape="1">
          <a:blip r:embed="rId3"/>
          <a:srcRect l="8437" r="10864"/>
          <a:stretch/>
        </p:blipFill>
        <p:spPr>
          <a:xfrm>
            <a:off x="1912211" y="1170940"/>
            <a:ext cx="2472538" cy="3863341"/>
          </a:xfrm>
          <a:prstGeom prst="rect">
            <a:avLst/>
          </a:prstGeom>
        </p:spPr>
      </p:pic>
      <p:pic>
        <p:nvPicPr>
          <p:cNvPr id="9" name="Picture 8">
            <a:extLst>
              <a:ext uri="{FF2B5EF4-FFF2-40B4-BE49-F238E27FC236}">
                <a16:creationId xmlns:a16="http://schemas.microsoft.com/office/drawing/2014/main" id="{D9E0934D-1643-4959-8ED1-6EB3CC213875}"/>
              </a:ext>
            </a:extLst>
          </p:cNvPr>
          <p:cNvPicPr>
            <a:picLocks noChangeAspect="1"/>
          </p:cNvPicPr>
          <p:nvPr/>
        </p:nvPicPr>
        <p:blipFill>
          <a:blip r:embed="rId4"/>
          <a:stretch>
            <a:fillRect/>
          </a:stretch>
        </p:blipFill>
        <p:spPr>
          <a:xfrm>
            <a:off x="5059025" y="1170940"/>
            <a:ext cx="4364375" cy="3855355"/>
          </a:xfrm>
          <a:prstGeom prst="rect">
            <a:avLst/>
          </a:prstGeom>
        </p:spPr>
      </p:pic>
    </p:spTree>
    <p:extLst>
      <p:ext uri="{BB962C8B-B14F-4D97-AF65-F5344CB8AC3E}">
        <p14:creationId xmlns:p14="http://schemas.microsoft.com/office/powerpoint/2010/main" val="987409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5CF4-43DF-4B04-9F74-E6F1F4F8924A}"/>
              </a:ext>
            </a:extLst>
          </p:cNvPr>
          <p:cNvSpPr>
            <a:spLocks noGrp="1"/>
          </p:cNvSpPr>
          <p:nvPr>
            <p:ph type="title"/>
          </p:nvPr>
        </p:nvSpPr>
        <p:spPr/>
        <p:txBody>
          <a:bodyPr/>
          <a:lstStyle/>
          <a:p>
            <a:r>
              <a:rPr lang="en-US"/>
              <a:t>Implementation: Power Report</a:t>
            </a:r>
          </a:p>
        </p:txBody>
      </p:sp>
      <p:sp>
        <p:nvSpPr>
          <p:cNvPr id="3" name="Text Placeholder 2">
            <a:extLst>
              <a:ext uri="{FF2B5EF4-FFF2-40B4-BE49-F238E27FC236}">
                <a16:creationId xmlns:a16="http://schemas.microsoft.com/office/drawing/2014/main" id="{4DDA7C44-E570-4B6B-ABB6-886B7A8F80F3}"/>
              </a:ext>
            </a:extLst>
          </p:cNvPr>
          <p:cNvSpPr>
            <a:spLocks noGrp="1"/>
          </p:cNvSpPr>
          <p:nvPr>
            <p:ph type="body" idx="1"/>
          </p:nvPr>
        </p:nvSpPr>
        <p:spPr>
          <a:xfrm>
            <a:off x="677334" y="5093795"/>
            <a:ext cx="11756131" cy="1639515"/>
          </a:xfrm>
        </p:spPr>
        <p:txBody>
          <a:bodyPr/>
          <a:lstStyle/>
          <a:p>
            <a:r>
              <a:rPr lang="en-US" dirty="0"/>
              <a:t>Low Power Consumption:</a:t>
            </a:r>
          </a:p>
          <a:p>
            <a:pPr marL="0" indent="0">
              <a:buNone/>
            </a:pPr>
            <a:r>
              <a:rPr lang="en-US" dirty="0"/>
              <a:t>     Total On-Chip Power maintained at a stable level.</a:t>
            </a:r>
          </a:p>
          <a:p>
            <a:r>
              <a:rPr lang="en-US" dirty="0"/>
              <a:t>Thermal Efficiency:</a:t>
            </a:r>
          </a:p>
          <a:p>
            <a:pPr marL="0" indent="0">
              <a:buNone/>
            </a:pPr>
            <a:r>
              <a:rPr lang="en-US" dirty="0"/>
              <a:t>     Junction Temperature remains safely within operating limits.</a:t>
            </a:r>
          </a:p>
        </p:txBody>
      </p:sp>
      <p:pic>
        <p:nvPicPr>
          <p:cNvPr id="5" name="Picture 4">
            <a:extLst>
              <a:ext uri="{FF2B5EF4-FFF2-40B4-BE49-F238E27FC236}">
                <a16:creationId xmlns:a16="http://schemas.microsoft.com/office/drawing/2014/main" id="{BCB63627-5869-4B56-8C85-64212A301FD0}"/>
              </a:ext>
            </a:extLst>
          </p:cNvPr>
          <p:cNvPicPr>
            <a:picLocks noChangeAspect="1"/>
          </p:cNvPicPr>
          <p:nvPr/>
        </p:nvPicPr>
        <p:blipFill>
          <a:blip r:embed="rId3"/>
          <a:stretch>
            <a:fillRect/>
          </a:stretch>
        </p:blipFill>
        <p:spPr>
          <a:xfrm>
            <a:off x="1345342" y="1492074"/>
            <a:ext cx="8668195" cy="3435527"/>
          </a:xfrm>
          <a:prstGeom prst="rect">
            <a:avLst/>
          </a:prstGeom>
        </p:spPr>
      </p:pic>
    </p:spTree>
    <p:extLst>
      <p:ext uri="{BB962C8B-B14F-4D97-AF65-F5344CB8AC3E}">
        <p14:creationId xmlns:p14="http://schemas.microsoft.com/office/powerpoint/2010/main" val="3885459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8185-4A30-4BE1-B235-EA9F7235B9AB}"/>
              </a:ext>
            </a:extLst>
          </p:cNvPr>
          <p:cNvSpPr>
            <a:spLocks noGrp="1"/>
          </p:cNvSpPr>
          <p:nvPr>
            <p:ph type="title"/>
          </p:nvPr>
        </p:nvSpPr>
        <p:spPr/>
        <p:txBody>
          <a:bodyPr/>
          <a:lstStyle/>
          <a:p>
            <a:r>
              <a:rPr lang="en-US"/>
              <a:t>Conclusion</a:t>
            </a:r>
          </a:p>
        </p:txBody>
      </p:sp>
      <p:sp>
        <p:nvSpPr>
          <p:cNvPr id="3" name="Text Placeholder 2">
            <a:extLst>
              <a:ext uri="{FF2B5EF4-FFF2-40B4-BE49-F238E27FC236}">
                <a16:creationId xmlns:a16="http://schemas.microsoft.com/office/drawing/2014/main" id="{74E73723-3BD2-4BE3-8B21-182DD958A326}"/>
              </a:ext>
            </a:extLst>
          </p:cNvPr>
          <p:cNvSpPr>
            <a:spLocks noGrp="1"/>
          </p:cNvSpPr>
          <p:nvPr>
            <p:ph type="body" idx="1"/>
          </p:nvPr>
        </p:nvSpPr>
        <p:spPr>
          <a:xfrm>
            <a:off x="677334" y="2160589"/>
            <a:ext cx="9753600" cy="3880773"/>
          </a:xfrm>
        </p:spPr>
        <p:txBody>
          <a:bodyPr/>
          <a:lstStyle/>
          <a:p>
            <a:r>
              <a:rPr lang="en-US" dirty="0"/>
              <a:t>Flow Completion:</a:t>
            </a:r>
          </a:p>
          <a:p>
            <a:pPr marL="0" indent="0">
              <a:buNone/>
            </a:pPr>
            <a:r>
              <a:rPr lang="en-US" dirty="0"/>
              <a:t>     Navigated the full FPGA flow: RTL Design -&gt; Simulation -&gt; Synthesis -&gt; Implementation.</a:t>
            </a:r>
          </a:p>
          <a:p>
            <a:r>
              <a:rPr lang="en-US" dirty="0"/>
              <a:t>Deliverables:</a:t>
            </a:r>
          </a:p>
          <a:p>
            <a:pPr marL="0" indent="0">
              <a:buNone/>
            </a:pPr>
            <a:r>
              <a:rPr lang="en-US" dirty="0"/>
              <a:t>     The upgraded 4-bit RISC Pipeline CPU project is fully verified and ready for deployment.</a:t>
            </a:r>
          </a:p>
        </p:txBody>
      </p:sp>
    </p:spTree>
    <p:extLst>
      <p:ext uri="{BB962C8B-B14F-4D97-AF65-F5344CB8AC3E}">
        <p14:creationId xmlns:p14="http://schemas.microsoft.com/office/powerpoint/2010/main" val="1621809892"/>
      </p:ext>
    </p:extLst>
  </p:cSld>
  <p:clrMapOvr>
    <a:masterClrMapping/>
  </p:clrMapOvr>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63</TotalTime>
  <Words>1058</Words>
  <Application>Microsoft Office PowerPoint</Application>
  <PresentationFormat>Widescreen</PresentationFormat>
  <Paragraphs>101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Trebuchet MS</vt:lpstr>
      <vt:lpstr>Wingdings 3</vt:lpstr>
      <vt:lpstr>Facet</vt:lpstr>
      <vt:lpstr>P2 Project: 4-bit RISC CPU Datapath (3-Stage Pipeline)</vt:lpstr>
      <vt:lpstr>Project Overview &amp; Design Architecture</vt:lpstr>
      <vt:lpstr>"Execution Paradigm: 3-Stage Pipeline Timing</vt:lpstr>
      <vt:lpstr>Memory Architecture: Harvard Model</vt:lpstr>
      <vt:lpstr>Architecture Highlight: Custom Upgrades</vt:lpstr>
      <vt:lpstr>RTL Analysis: Elaborated Schematic</vt:lpstr>
      <vt:lpstr>Pipeline Execution &amp; Hazard Handling</vt:lpstr>
      <vt:lpstr>Automated Verification &amp; Testbench</vt:lpstr>
      <vt:lpstr>Waveform &amp; Timing Analysis</vt:lpstr>
      <vt:lpstr>Synthesis: Hardware Utilization</vt:lpstr>
      <vt:lpstr>Implementation: Physical Device View</vt:lpstr>
      <vt:lpstr>Implementation: Power Report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 Project: 4-bit RISC CPU Datapath (3-Stage Pipeline)</dc:title>
  <dc:creator>Minh Phạm</dc:creator>
  <cp:lastModifiedBy>Minh Phạm</cp:lastModifiedBy>
  <cp:revision>7</cp:revision>
  <dcterms:created xsi:type="dcterms:W3CDTF">2026-10-08T15:43:09Z</dcterms:created>
  <dcterms:modified xsi:type="dcterms:W3CDTF">2026-10-09T06:11:16Z</dcterms:modified>
</cp:coreProperties>
</file>